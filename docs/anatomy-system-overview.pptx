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تشريح ثلاثي الأبعاد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C7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لطلاب الطب البشري في جامعة العلوم والتكنولوجيا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54880" y="3337560"/>
            <a:ext cx="2651760" cy="0"/>
          </a:xfrm>
          <a:prstGeom prst="line">
            <a:avLst/>
          </a:prstGeom>
          <a:noFill/>
          <a:ln w="19050">
            <a:solidFill>
              <a:srgbClr val="4A64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61188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مقدم من د. سمية عبد الله عبد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بمساعدة أخيها المهندس صلاح عبد الله عبد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892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3A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تعريفي بالنظام وطريقة استخدامه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النظام؟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أطلس تشريحي تفاعلي يعمل داخل المتصفح، بواجهة عربية كاملة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2,219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قطعة مجسمة يمكن تحديدها بالنقر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5848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93008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جهازاً تشريحياً يمكن إظهاره وإخفاؤه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5,574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45936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مصطلحاً تشريحياً بالعربية مع مقابله الإنجليزي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61704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1704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 تثبيت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98864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يفتح من أي متصفح على الحاسوب أو الجوال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108960"/>
            <a:ext cx="11155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يعرض جسم إنسان بالغ بشكل ثلاثي الأبعاد، يمكن تدويره وتقريبه والنقر على أي بنية لمعرفة اسمها.</a:t>
            </a:r>
            <a:endParaRPr lang="en-US" sz="1700" dirty="0"/>
          </a:p>
          <a:p>
            <a:pPr algn="r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اسم يظهر بالعربية ومعه الاسم الإنجليزي، لأن الامتحانات تُكتب بالإنجليزية.</a:t>
            </a:r>
            <a:endParaRPr lang="en-US" sz="1700" dirty="0"/>
          </a:p>
          <a:p>
            <a:pPr algn="r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يحتوي أدوات مذاكرة: اختبار، بطاقات مراجعة، مفضلة وقوائم، وعلامات على النموذج.</a:t>
            </a:r>
            <a:endParaRPr lang="en-US" sz="1700" dirty="0"/>
          </a:p>
          <a:p>
            <a:pPr algn="r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بلا إنترنت بعد فتحه أول مرة، ما عدا زر الشرح بالذكاء الاصطناعي.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البداية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ما يظهر عند فتح الرابط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sp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04656" y="3343708"/>
            <a:ext cx="2454529" cy="278701"/>
          </a:xfrm>
          <a:prstGeom prst="rect">
            <a:avLst>
              <a:gd name="adj" fmla="val 9843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776472" y="3327611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76472" y="332761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67418" y="3968571"/>
            <a:ext cx="929005" cy="215138"/>
          </a:xfrm>
          <a:prstGeom prst="rect">
            <a:avLst>
              <a:gd name="adj" fmla="val 1275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776472" y="3920692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76472" y="39206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النظام والجهة المقدِّمة: نظام تشريح ثلاثي الأبعاد، مقدم من د. سمية عبد الله عبد، بمساعدة المهندس صلاح عبد الله عبد.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«الدخول إلى النظام» يبقى معطّلاً حتى يجهز النموذج، ثم يفتح الأطلس. خلفه يظهر النموذج وهو يُحمَّل.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التحميل أول مرة يستغرق دقيقة تقريباً حسب سرعة الإنترنت، ثم يصبح أسرع.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البداية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الشاشة الرئيسية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عنصر في الواجهة ووظيفته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26110" y="1807909"/>
            <a:ext cx="2069786" cy="287258"/>
          </a:xfrm>
          <a:prstGeom prst="rect">
            <a:avLst>
              <a:gd name="adj" fmla="val 9550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6105555" y="1796090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05555" y="17960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8165" y="1705229"/>
            <a:ext cx="2464843" cy="215138"/>
          </a:xfrm>
          <a:prstGeom prst="rect">
            <a:avLst>
              <a:gd name="adj" fmla="val 1275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635138" y="1657350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35138" y="165735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63742" y="2526665"/>
            <a:ext cx="1241933" cy="2542540"/>
          </a:xfrm>
          <a:prstGeom prst="rect">
            <a:avLst>
              <a:gd name="adj" fmla="val 2209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529261" y="3642487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29261" y="364248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8165" y="3018060"/>
            <a:ext cx="254254" cy="1461961"/>
          </a:xfrm>
          <a:prstGeom prst="rect">
            <a:avLst>
              <a:gd name="adj" fmla="val 10789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529844" y="3593592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9844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12629" y="5245227"/>
            <a:ext cx="1741197" cy="352044"/>
          </a:xfrm>
          <a:prstGeom prst="rect">
            <a:avLst>
              <a:gd name="adj" fmla="val 7792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3927779" y="5265801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27779" y="526580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13873" y="5091208"/>
            <a:ext cx="636093" cy="109728"/>
          </a:xfrm>
          <a:prstGeom prst="rect">
            <a:avLst>
              <a:gd name="adj" fmla="val 25000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3776472" y="4968764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76472" y="49687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635240" y="1234440"/>
            <a:ext cx="4160520" cy="5029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ترويسة النظام: اسم النظام والجهة المقدِّمة، وعدد القطع ومصدر البيانات.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الأدوات: البحث، الاختبار، البطاقات، المفضلة، العلامات، المشاركة، الاختصارات، وتغيير اللغة.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الأجهزة: تشغيل وإطفاء أي جهاز من أجهزة الجسم الخمسة عشر.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أزرار الكاميرا: عرض أمامي (أ)، جانبي (ج)، خلفي (خ)، ثلاثة أرباع (¾)، مع التدوير التلقائي وإعادة الضبط.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التفكيك: يفصل الجسم تدريجياً حتى تصبح كل قطعة مستقلة.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الحالة: يخبرك بما يعرضه المشهد الآن.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الشاشة الرئيسية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الأجهزة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التحكم بما يظهر من الجسم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sys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37085" y="2800477"/>
            <a:ext cx="1095248" cy="176022"/>
          </a:xfrm>
          <a:prstGeom prst="rect">
            <a:avLst>
              <a:gd name="adj" fmla="val 15584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6529261" y="2733040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29261" y="2733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74460" y="3240532"/>
            <a:ext cx="757873" cy="185801"/>
          </a:xfrm>
          <a:prstGeom prst="rect">
            <a:avLst>
              <a:gd name="adj" fmla="val 14764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6697948" y="3177985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97948" y="317798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78880" y="3288434"/>
            <a:ext cx="156464" cy="109728"/>
          </a:xfrm>
          <a:prstGeom prst="rect">
            <a:avLst>
              <a:gd name="adj" fmla="val 25000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201664" y="3177965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01664" y="317796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03797" y="3296761"/>
            <a:ext cx="109728" cy="109728"/>
          </a:xfrm>
          <a:prstGeom prst="rect">
            <a:avLst>
              <a:gd name="adj" fmla="val 25000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6392355" y="3177985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92355" y="317798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37085" y="4849178"/>
            <a:ext cx="1095248" cy="215138"/>
          </a:xfrm>
          <a:prstGeom prst="rect">
            <a:avLst>
              <a:gd name="adj" fmla="val 1275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6529261" y="4801299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29261" y="480129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أزرار سريعة: «الكل» لإظهار كل شيء، «الهيكل» للعظام وحدها، «الأعضاء» للأعضاء الداخلية.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الضغط على اسم الجهاز يُظهر هذا الجهاز وحده ويخفي الباقي — أسرع طريقة لعزل جهاز كامل.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المفتاح بجانب كل جهاز يشغّله أو يخفيه دون التأثير على بقية الأجهزة.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الرقم يبيّن كم قطعة يحتوي هذا الجهاز.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أسفل اللوحة: عدد القطع الظاهرة الآن، وزر «إخفاء الكل» للبدء من شاشة فارغة.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اختصار لوحة المفاتيح: حرف L يفتح ويغلق لوحة الأجهزة.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الأجهزة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عن بنية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بالعربية أو الإنجليزية أو اللاتينية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95071" y="2360422"/>
            <a:ext cx="1476629" cy="156464"/>
          </a:xfrm>
          <a:prstGeom prst="rect">
            <a:avLst>
              <a:gd name="adj" fmla="val 17532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277938" y="2283206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77938" y="228320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30346" y="2590229"/>
            <a:ext cx="1087570" cy="179498"/>
          </a:xfrm>
          <a:prstGeom prst="rect">
            <a:avLst>
              <a:gd name="adj" fmla="val 15283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418683" y="2524530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18683" y="252453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9077" y="2638054"/>
            <a:ext cx="242374" cy="109728"/>
          </a:xfrm>
          <a:prstGeom prst="rect">
            <a:avLst>
              <a:gd name="adj" fmla="val 25000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704816" y="2524510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816" y="25245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أي جزء من الاسم. البحث يتجاهل الهمزات والتاء المربوطة والتشكيل، فـ «الرئه» تجد «الرئة».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نتيجة تعرض الاسم العربي وتحته الاسم الإنجليزي كما هو في المصدر.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الرقم يوضح عدد القطع التي يتكوّن منها هذا المفهوم التشريحي.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اختصار: مفتاح / يفتح البحث مباشرة من أي مكان.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عن بنية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التفاصيل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تظهر عند النقر على أي بنية في النموذج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1121" y="2400913"/>
            <a:ext cx="1183259" cy="146685"/>
          </a:xfrm>
          <a:prstGeom prst="rect">
            <a:avLst>
              <a:gd name="adj" fmla="val 1870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527302" y="2318808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27302" y="2318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91121" y="2601383"/>
            <a:ext cx="1183259" cy="109728"/>
          </a:xfrm>
          <a:prstGeom prst="rect">
            <a:avLst>
              <a:gd name="adj" fmla="val 25000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527302" y="2491334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27302" y="249133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93331" y="2780193"/>
            <a:ext cx="1281049" cy="465419"/>
          </a:xfrm>
          <a:prstGeom prst="rect">
            <a:avLst>
              <a:gd name="adj" fmla="val 5894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1478407" y="2857455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78407" y="285745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93331" y="3443637"/>
            <a:ext cx="1281049" cy="382756"/>
          </a:xfrm>
          <a:prstGeom prst="rect">
            <a:avLst>
              <a:gd name="adj" fmla="val 7167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1478407" y="3479567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78407" y="347956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93331" y="4101084"/>
            <a:ext cx="1281049" cy="205359"/>
          </a:xfrm>
          <a:prstGeom prst="rect">
            <a:avLst>
              <a:gd name="adj" fmla="val 13358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1478407" y="4048316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78407" y="40483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93331" y="4330890"/>
            <a:ext cx="1281049" cy="215138"/>
          </a:xfrm>
          <a:prstGeom prst="rect">
            <a:avLst>
              <a:gd name="adj" fmla="val 1275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1478407" y="4283012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78407" y="42830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93331" y="4570476"/>
            <a:ext cx="1281049" cy="185801"/>
          </a:xfrm>
          <a:prstGeom prst="rect">
            <a:avLst>
              <a:gd name="adj" fmla="val 14764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1478407" y="4507929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78407" y="450792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35240" y="1234440"/>
            <a:ext cx="4160520" cy="5029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العربي المعتمد للبنية.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الإنجليزي الأصلي أسفله مباشرة — وهو المطلوب في الامتحانات.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مختصر للبنية أو للجهاز الذي تنتمي إليه.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القطع المحددة، والجهاز التشريحي التابعة له.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«اشرح لي هذه البنية»: شرح موسّع بالذكاء الاصطناعي.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«عزل البنية»: يخفي كل ما حولها ويقرّب الكاميرا عليها.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البنية إلى المفضلة، أو حفظها كبطاقة مراجعة.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التفاصيل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بالذكاء الاصطناعي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موسّع للبنية المحددة، بلغة الواجهة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expl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923610" y="2333262"/>
            <a:ext cx="568061" cy="127127"/>
          </a:xfrm>
          <a:prstGeom prst="rect">
            <a:avLst>
              <a:gd name="adj" fmla="val 21578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5052192" y="2241378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52192" y="224137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72170" y="2602185"/>
            <a:ext cx="3119501" cy="109728"/>
          </a:xfrm>
          <a:prstGeom prst="rect">
            <a:avLst>
              <a:gd name="adj" fmla="val 25000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776472" y="2496243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76472" y="249624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274380" y="5201031"/>
            <a:ext cx="3315081" cy="198483"/>
          </a:xfrm>
          <a:prstGeom prst="rect">
            <a:avLst>
              <a:gd name="adj" fmla="val 1382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776472" y="5144824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76472" y="5144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عنوان النافذة يحمل اسم البنية التي طلبت شرحها.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مقسّم إلى: ما هي، الموقع، الوظيفة، علاقتها بما حولها، وملاحظة سريرية — مع إبقاء المصطلح الإنجليزي بين قوسين.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سطر تنبيه أسفل النافذة: الشرح مولّد بالذكاء الاصطناعي، للتعليم فقط وليس مرجعاً سريرياً.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كان الجهاز غير متصل بالإنترنت يظهر تنبيه فقط ولا يُرسل أي شيء. الإغلاق بمفتاح Esc.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بالذكاء الاصطناعي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عزل البنية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دراسة بنية واحدة بمعزل عن الجسم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iso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93331" y="4330890"/>
            <a:ext cx="1281049" cy="215138"/>
          </a:xfrm>
          <a:prstGeom prst="rect">
            <a:avLst>
              <a:gd name="adj" fmla="val 1275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478407" y="4283012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78407" y="42830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45884" y="5091208"/>
            <a:ext cx="572072" cy="109728"/>
          </a:xfrm>
          <a:prstGeom prst="rect">
            <a:avLst>
              <a:gd name="adj" fmla="val 25000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776472" y="4968764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76472" y="49687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«عزل البنية» يخفي بقية الجسم ويملأ الشاشة بالبنية المحددة، ويعود بالضغط عليه مرة أخرى.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الحالة يعرض اسم البنية المعزولة، ويمكن تدويرها وتقريبها بحرية.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اختصار: حرف I يعزل البنية المحددة ويلغي العزل.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عزل البنية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العلامات على النموذج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أسماء البنى الظاهرة مباشرة على الجسم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lab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91590" y="1705229"/>
            <a:ext cx="205359" cy="215138"/>
          </a:xfrm>
          <a:prstGeom prst="rect">
            <a:avLst>
              <a:gd name="adj" fmla="val 13358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238822" y="1657350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38822" y="165735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9933" y="2636793"/>
            <a:ext cx="520732" cy="109728"/>
          </a:xfrm>
          <a:prstGeom prst="rect">
            <a:avLst>
              <a:gd name="adj" fmla="val 25000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84851" y="2535856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4851" y="2535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العلامات في شريط الأدوات يشغّلها ويطفئها.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تظهر أسماء أكبر البنى الظاهرة، وخطوط الإشارة مرتبة بحيث لا تتقاطع مهما كان عدد العلامات.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اختصار: حرف N. العلامات تتبع لغة الواجهة، فتظهر بالعربية أو الإنجليزية.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العلامات على النموذج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وضع الاختبار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فارق تعليمي في النظام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1287" y="2345754"/>
            <a:ext cx="1496187" cy="185801"/>
          </a:xfrm>
          <a:prstGeom prst="rect">
            <a:avLst>
              <a:gd name="adj" fmla="val 14764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233932" y="2283206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33932" y="228320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1287" y="2727134"/>
            <a:ext cx="1496187" cy="124682"/>
          </a:xfrm>
          <a:prstGeom prst="rect">
            <a:avLst>
              <a:gd name="adj" fmla="val 22002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233932" y="2634028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3932" y="2634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1287" y="2900712"/>
            <a:ext cx="1496187" cy="109728"/>
          </a:xfrm>
          <a:prstGeom prst="rect">
            <a:avLst>
              <a:gd name="adj" fmla="val 25000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1233932" y="2799048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3932" y="2799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1287" y="3057176"/>
            <a:ext cx="1496187" cy="195580"/>
          </a:xfrm>
          <a:prstGeom prst="rect">
            <a:avLst>
              <a:gd name="adj" fmla="val 14026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1233932" y="2999518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33932" y="299951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1287" y="3301651"/>
            <a:ext cx="1496187" cy="129572"/>
          </a:xfrm>
          <a:prstGeom prst="rect">
            <a:avLst>
              <a:gd name="adj" fmla="val 2117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1233932" y="3210989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3932" y="321098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مصدر الأسئلة: الأجهزة الظاهرة فقط، أو المفضلة، أو الأطلس كامل.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يظهر الجهاز وعدد القطع فقط — أما الاسم فمخفي، والمطلوب أن تحدد البنية على النموذج.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النقر يخبرك النظام مباشرة: إجابة صحيحة، أو يسمّي لك البنية التي نقرت عليها بالخطأ.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 إظهار الإجابة أو تخطي السؤال والانتقال إلى غيره.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وعدد الإجابات المتتالية الصحيحة تُحسب أثناء المذاكرة.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اختصار: حرف Q يشغّل وضع الاختبار وينهيه.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وضع الاختبار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المراجعة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حفظ الأسماء بأسلوب البطاقات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07366" y="2551113"/>
            <a:ext cx="164066" cy="118800"/>
          </a:xfrm>
          <a:prstGeom prst="rect">
            <a:avLst>
              <a:gd name="adj" fmla="val 2309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233951" y="2455064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33951" y="2455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85762" y="2938835"/>
            <a:ext cx="1007237" cy="195580"/>
          </a:xfrm>
          <a:prstGeom prst="rect">
            <a:avLst>
              <a:gd name="adj" fmla="val 14026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233932" y="2881177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3932" y="288117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0845" y="3420450"/>
            <a:ext cx="961704" cy="156464"/>
          </a:xfrm>
          <a:prstGeom prst="rect">
            <a:avLst>
              <a:gd name="adj" fmla="val 17532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986248" y="3343234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6248" y="334323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وجه البطاقة يعرض الاسم بلغة الواجهة، والوجه الآخر يعرض الاسم باللغة الثانية.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«إظهار الإجابة» يقلب البطاقة، والأسهم تنقلك بين البطاقات.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التصدير: ملف CSV لبرامج الجداول، وملف جاهز لبرنامج Anki للمراجعة المتباعدة.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البطاقات تُحفظ داخل متصفحك، وتبقى موجودة بعد إغلاق الصفحة.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المراجعة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المفضلة والقوائم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تجهيز قائمة مذاكرة لامتحان معيّن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favori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1287" y="2345754"/>
            <a:ext cx="1496187" cy="146685"/>
          </a:xfrm>
          <a:prstGeom prst="rect">
            <a:avLst>
              <a:gd name="adj" fmla="val 1870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233932" y="2263648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33932" y="2263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1287" y="2541334"/>
            <a:ext cx="1496187" cy="185801"/>
          </a:xfrm>
          <a:prstGeom prst="rect">
            <a:avLst>
              <a:gd name="adj" fmla="val 14764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233932" y="2478786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3932" y="247878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02116" y="2780919"/>
            <a:ext cx="1135357" cy="205359"/>
          </a:xfrm>
          <a:prstGeom prst="rect">
            <a:avLst>
              <a:gd name="adj" fmla="val 13358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1414347" y="2728151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14347" y="272815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تبويب لكل قائمة، و«كل المفضلة» يجمعها كلها.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قائمة باسم يناسب امتحانك، مثل «امتحان الأطراف العلوية».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النقر على أي بنية في القائمة يفتحها على النموذج مباشرة.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 جعل أسئلة الاختبار تأتي من المفضلة فقط.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المفضلة والقوائم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تفكيك الجسم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جسم مجمّع إلى جرد كامل للقطع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expl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12629" y="5245227"/>
            <a:ext cx="1741197" cy="352044"/>
          </a:xfrm>
          <a:prstGeom prst="rect">
            <a:avLst>
              <a:gd name="adj" fmla="val 7792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927779" y="5265801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27779" y="526580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13873" y="5091208"/>
            <a:ext cx="636093" cy="109728"/>
          </a:xfrm>
          <a:prstGeom prst="rect">
            <a:avLst>
              <a:gd name="adj" fmla="val 25000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776472" y="4968764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76472" y="49687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1234440"/>
            <a:ext cx="4160520" cy="5029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حرّك الشريط تدريجياً: تبتعد القطع عن بعضها حسب الجهاز، ثم تنتظم كلها في جرد مسطّح.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الحالة يوضح المرحلة: مجمّع، بنى مفصولة، أو جرد تشريحي — وفي الجرد يمكن النقر على أي قطعة لمعرفة اسمها.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تفكيك الجسم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والاختصارات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إرسال نفس المشهد لطالب آخر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7115" y="1705229"/>
            <a:ext cx="205359" cy="215138"/>
          </a:xfrm>
          <a:prstGeom prst="rect">
            <a:avLst>
              <a:gd name="adj" fmla="val 13358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994347" y="1657350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4347" y="165735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79300" y="2037715"/>
            <a:ext cx="501747" cy="199247"/>
          </a:xfrm>
          <a:prstGeom prst="rect">
            <a:avLst>
              <a:gd name="adj" fmla="val 13768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274725" y="1981891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74725" y="198189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المشاركة ينسخ رابطاً يحفظ: الأجهزة الظاهرة، والبنية المحددة، ودرجة التفكيك، وزاوية الكاميرا، واللغة.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تظهر رسالة «تم نسخ الرابط» عند نجاح النسخ، ويكفي لصق الرابط في أي محادثة.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يفتح الرابط يرى نفس المشهد تماماً كما تركته.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والاختصارات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اختصارات لوحة المفاتيح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للتنقل السريع أثناء المذاكرة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shortcu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03660" y="2308013"/>
            <a:ext cx="1897126" cy="2337181"/>
          </a:xfrm>
          <a:prstGeom prst="rect">
            <a:avLst>
              <a:gd name="adj" fmla="val 1446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6196775" y="3321155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96775" y="332115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القائمة الكاملة للاختصارات تظهر بالضغط على علامة الاستفهام ؟ أو من زر لوحة المفاتيح في شريط الأدوات.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بحث · L الأجهزة · N العلامات · Q اختبار · F مفضلة · I عزل · R تدوير · 0 إعادة ضبط · 1–4 زوايا العرض · A المصدر والحقوق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اختصارات لوحة المفاتيح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اللغة الثانية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التبديل الكامل بين العربية والإنجليزية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engli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7944" y="1807909"/>
            <a:ext cx="2069786" cy="287258"/>
          </a:xfrm>
          <a:prstGeom prst="rect">
            <a:avLst>
              <a:gd name="adj" fmla="val 9550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447389" y="1796090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47389" y="17960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8165" y="2526665"/>
            <a:ext cx="1241933" cy="2542540"/>
          </a:xfrm>
          <a:prstGeom prst="rect">
            <a:avLst>
              <a:gd name="adj" fmla="val 2209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023684" y="3642487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3684" y="364248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اللغة يقلب الواجهة كاملة، ويعيد ترتيب العناصر من اليمين إلى اليسار أو العكس.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أسماء الأجهزة والبنى والشرح كلها تتبع اللغة المختارة، والنموذج ثلاثي الأبعاد لا يتأثر.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اللغة تُحفظ في المتصفح، ويمكن فرضها في الرابط بإضافة lang=ar أو lang=en.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اللغة الثانية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الجوال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النظام بواجهة مناسبة للشاشة الصغيرة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9960" y="1234440"/>
            <a:ext cx="2323919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69960" y="1234440"/>
            <a:ext cx="2323919" cy="502920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817630" y="1782647"/>
            <a:ext cx="2228579" cy="286021"/>
          </a:xfrm>
          <a:prstGeom prst="rect">
            <a:avLst>
              <a:gd name="adj" fmla="val 959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776472" y="1770209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76472" y="177020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53002" y="5059969"/>
            <a:ext cx="1757836" cy="321773"/>
          </a:xfrm>
          <a:prstGeom prst="rect">
            <a:avLst>
              <a:gd name="adj" fmla="val 8525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776472" y="5065408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76472" y="5065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41465" y="5441330"/>
            <a:ext cx="2180909" cy="643547"/>
          </a:xfrm>
          <a:prstGeom prst="rect">
            <a:avLst>
              <a:gd name="adj" fmla="val 4263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776472" y="5607656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76472" y="56076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الأدوات يتحول إلى صف قابل للتمرير أسفل العنوان.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أزرار الكاميرا تنتقل إلى أسفل الشاشة قرب الإبهام.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التفكيك وزر الأجهزة في الأسفل، بمساحات لمس مريحة.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ينصح باستخدام شبكة Wi-Fi عند فتح النظام أول مرة لأن حجم النموذج كبير.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الجوال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البيانات والحقوق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أين جاء النموذج وما حدود استخدامه</a:t>
            </a:r>
            <a:endParaRPr lang="en-US" sz="1400" dirty="0"/>
          </a:p>
        </p:txBody>
      </p:sp>
      <p:pic>
        <p:nvPicPr>
          <p:cNvPr id="4" name="Image 0" descr="/private/tmp/claude-501/-Users-salahabdullah-Documents-Projects-Anatomical-system/f4cc1f4d-a8f1-457c-9791-b4f9104322c0/scratchpad/deck/ab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8765"/>
            <a:ext cx="7040880" cy="44005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548765"/>
            <a:ext cx="7040880" cy="4400550"/>
          </a:xfrm>
          <a:prstGeom prst="rect">
            <a:avLst/>
          </a:prstGeom>
          <a:ln w="9525">
            <a:solidFill>
              <a:srgbClr val="D3DA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3055" y="3819823"/>
            <a:ext cx="1897126" cy="111236"/>
          </a:xfrm>
          <a:prstGeom prst="rect">
            <a:avLst>
              <a:gd name="adj" fmla="val 2466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356170" y="3719993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56170" y="371999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3055" y="5026307"/>
            <a:ext cx="1897126" cy="111236"/>
          </a:xfrm>
          <a:prstGeom prst="rect">
            <a:avLst>
              <a:gd name="adj" fmla="val 24661"/>
            </a:avLst>
          </a:prstGeom>
          <a:ln w="15875">
            <a:solidFill>
              <a:srgbClr val="C0453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356170" y="4926477"/>
            <a:ext cx="310896" cy="310896"/>
          </a:xfrm>
          <a:prstGeom prst="ellipse">
            <a:avLst/>
          </a:prstGeom>
          <a:solidFill>
            <a:srgbClr val="C04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56170" y="492647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1234440"/>
            <a:ext cx="4160520" cy="4160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التشريحية من قاعدة BodyParts3D التابعة لـ The Database Center for Life Science، برخصة CC BY 4.0.</a:t>
            </a:r>
            <a:endParaRPr lang="en-US" sz="1500" dirty="0"/>
          </a:p>
          <a:p>
            <a:pPr algn="r"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0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روابط الرخصة والبيانات الأصلية والبحث المنشور متاحة داخل النظام في نافذة «عن النظام» (مفتاح A).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35240" y="55321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9F0F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55778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B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مرجع تعليمي، وليس أداة تشخيص أو جراحة.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4A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البيانات والحقوق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تبدأ؟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377440" y="2286000"/>
            <a:ext cx="7406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30000"/>
              </a:lnSpc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D7E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 رابط النظام من المتصفح واضغط «الدخول إلى النظام».</a:t>
            </a:r>
            <a:endParaRPr lang="en-US" sz="1800" dirty="0"/>
          </a:p>
          <a:p>
            <a:pPr algn="r" marL="342900" indent="-342900">
              <a:lnSpc>
                <a:spcPct val="130000"/>
              </a:lnSpc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D7E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بجهاز واحد من لوحة الأجهزة حتى لا تتشتت.</a:t>
            </a:r>
            <a:endParaRPr lang="en-US" sz="1800" dirty="0"/>
          </a:p>
          <a:p>
            <a:pPr algn="r" marL="342900" indent="-342900">
              <a:lnSpc>
                <a:spcPct val="130000"/>
              </a:lnSpc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D7E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انقر على أي بنية، اقرأ اسمها بالعربية والإنجليزية، ثم اطلب الشرح.</a:t>
            </a:r>
            <a:endParaRPr lang="en-US" sz="1800" dirty="0"/>
          </a:p>
          <a:p>
            <a:pPr algn="r" marL="342900" indent="-342900">
              <a:lnSpc>
                <a:spcPct val="130000"/>
              </a:lnSpc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D7E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أضف ما يهمك إلى المفضلة والبطاقات، وراجع نفسك بوضع الاختبار.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0" y="5029200"/>
            <a:ext cx="2651760" cy="0"/>
          </a:xfrm>
          <a:prstGeom prst="line">
            <a:avLst/>
          </a:prstGeom>
          <a:noFill/>
          <a:ln w="19050">
            <a:solidFill>
              <a:srgbClr val="4A64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مقدم من د. سمية عبد الله عبد — بمساعدة أخيها المهندس صلاح عبد الله عبد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جامعة العلوم والتكنولوجيا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نظام تشريح ثلاثي الأبعاد</dc:title>
  <dc:subject>PptxGenJS Presentation</dc:subject>
  <dc:creator>د. سمية عبد الله عبد</dc:creator>
  <cp:lastModifiedBy>د. سمية عبد الله عبد</cp:lastModifiedBy>
  <cp:revision>1</cp:revision>
  <dcterms:created xsi:type="dcterms:W3CDTF">2026-09-09T11:06:42Z</dcterms:created>
  <dcterms:modified xsi:type="dcterms:W3CDTF">2026-09-09T11:06:42Z</dcterms:modified>
</cp:coreProperties>
</file>