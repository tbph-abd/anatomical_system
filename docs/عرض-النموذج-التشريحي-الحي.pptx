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74523" y="1773555"/>
            <a:ext cx="5596890" cy="3156585"/>
          </a:xfrm>
          <a:prstGeom prst="rect">
            <a:avLst/>
          </a:prstGeom>
          <a:solidFill>
            <a:srgbClr val="0F171B"/>
          </a:solidFill>
          <a:ln w="9525">
            <a:solidFill>
              <a:srgbClr val="21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2-full-bo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783080"/>
            <a:ext cx="5577840" cy="31375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371600"/>
            <a:ext cx="51206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300" b="0">
                <a:solidFill>
                  <a:srgbClr val="3AD39C"/>
                </a:solidFill>
                <a:latin typeface="Tahoma"/>
              </a:rPr>
              <a:t>نظام تشريح ثلاثي الأبعاد</a:t>
            </a:r>
          </a:p>
          <a:p>
            <a:pPr algn="r" rtl="1">
              <a:lnSpc>
                <a:spcPct val="125000"/>
              </a:lnSpc>
              <a:spcBef>
                <a:spcPts val="1000"/>
              </a:spcBef>
            </a:pPr>
            <a:r>
              <a:rPr sz="4400" b="1">
                <a:solidFill>
                  <a:srgbClr val="E9F0F2"/>
                </a:solidFill>
                <a:latin typeface="Tahoma"/>
              </a:rPr>
              <a:t>النموذج التشريحي الحي</a:t>
            </a:r>
          </a:p>
          <a:p>
            <a:pPr algn="r" rtl="1">
              <a:lnSpc>
                <a:spcPct val="125000"/>
              </a:lnSpc>
              <a:spcBef>
                <a:spcPts val="16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مساعد تعليمي تفاعلي لطلاب الطب البشري — يعمل في المتصفح، بأسماء عربية موثّقة، وبأنسجة تحمل ألوانها الحقيقية وتتحرك كما تعمل في الجسم.</a:t>
            </a:r>
          </a:p>
          <a:p>
            <a:pPr algn="r" rtl="1">
              <a:lnSpc>
                <a:spcPct val="125000"/>
              </a:lnSpc>
              <a:spcBef>
                <a:spcPts val="2200"/>
              </a:spcBef>
            </a:pPr>
            <a:r>
              <a:rPr sz="1600" b="1">
                <a:solidFill>
                  <a:srgbClr val="E9F0F2"/>
                </a:solidFill>
                <a:latin typeface="Tahoma"/>
              </a:rPr>
              <a:t>إعداد: د. سمية عبد الله عبد</a:t>
            </a:r>
          </a:p>
          <a:p>
            <a:pPr algn="r" rtl="1">
              <a:lnSpc>
                <a:spcPct val="125000"/>
              </a:lnSpc>
              <a:spcBef>
                <a:spcPts val="400"/>
              </a:spcBef>
            </a:pPr>
            <a:r>
              <a:rPr sz="1300" b="0">
                <a:solidFill>
                  <a:srgbClr val="92A6AD"/>
                </a:solidFill>
                <a:latin typeface="Tahoma"/>
              </a:rPr>
              <a:t>بمساعدة المهندس صلاح عبد الله عبد</a:t>
            </a:r>
          </a:p>
          <a:p>
            <a:pPr algn="r" rtl="1">
              <a:lnSpc>
                <a:spcPct val="125000"/>
              </a:lnSpc>
              <a:spcBef>
                <a:spcPts val="400"/>
              </a:spcBef>
            </a:pPr>
            <a:r>
              <a:rPr sz="1300" b="0">
                <a:solidFill>
                  <a:srgbClr val="92A6AD"/>
                </a:solidFill>
                <a:latin typeface="Tahoma"/>
              </a:rPr>
              <a:t>كلية الطب البشري · جامعة العلوم والتكنولوجيا الحديثة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55680" y="1143000"/>
            <a:ext cx="411480" cy="28575"/>
          </a:xfrm>
          <a:prstGeom prst="rect">
            <a:avLst/>
          </a:prstGeom>
          <a:solidFill>
            <a:srgbClr val="CF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65815" y="457200"/>
            <a:ext cx="502920" cy="28575"/>
          </a:xfrm>
          <a:prstGeom prst="rect">
            <a:avLst/>
          </a:prstGeom>
          <a:solidFill>
            <a:srgbClr val="3AD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3135" y="658368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200" b="0">
                <a:solidFill>
                  <a:srgbClr val="3AD39C"/>
                </a:solidFill>
                <a:latin typeface="Tahoma"/>
              </a:rPr>
              <a:t>التعريف</a:t>
            </a:r>
          </a:p>
          <a:p>
            <a:pPr algn="r" rtl="1">
              <a:lnSpc>
                <a:spcPct val="125000"/>
              </a:lnSpc>
              <a:spcBef>
                <a:spcPts val="600"/>
              </a:spcBef>
            </a:pPr>
            <a:r>
              <a:rPr sz="3000" b="1">
                <a:solidFill>
                  <a:srgbClr val="E9F0F2"/>
                </a:solidFill>
                <a:latin typeface="Tahoma"/>
              </a:rPr>
              <a:t>ما هذا النظام؟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2057400"/>
            <a:ext cx="47548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500" b="0">
                <a:solidFill>
                  <a:srgbClr val="E9F0F2"/>
                </a:solidFill>
                <a:latin typeface="Tahoma"/>
              </a:rPr>
              <a:t>• نموذج تشريحي تفاعلي يفتح في المتصفح بلا تثبيت ولا حساب.</a:t>
            </a:r>
          </a:p>
          <a:p>
            <a:pPr algn="r" rtl="1">
              <a:lnSpc>
                <a:spcPct val="125000"/>
              </a:lnSpc>
              <a:spcBef>
                <a:spcPts val="12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• نموذج ذكوري كامل يُفكَّك ويُعاد تركيبه أمام الطالب.</a:t>
            </a:r>
          </a:p>
          <a:p>
            <a:pPr algn="r" rtl="1">
              <a:lnSpc>
                <a:spcPct val="125000"/>
              </a:lnSpc>
              <a:spcBef>
                <a:spcPts val="12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• كل قطعة قابلة للنقر: اسمها، جهازها، وشرح مبسّط لوظيفتها.</a:t>
            </a:r>
          </a:p>
          <a:p>
            <a:pPr algn="r" rtl="1">
              <a:lnSpc>
                <a:spcPct val="125000"/>
              </a:lnSpc>
              <a:spcBef>
                <a:spcPts val="12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• واجهة عربية بالكامل مع إمكانية التبديل إلى الإنجليزية.</a:t>
            </a:r>
          </a:p>
          <a:p>
            <a:pPr algn="r" rtl="1">
              <a:lnSpc>
                <a:spcPct val="125000"/>
              </a:lnSpc>
              <a:spcBef>
                <a:spcPts val="12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• يعمل على الحاسوب واللوح، ويُشارك برابط يحفظ زاوية الكاميرا والطبقات الظاهرة.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403" y="1910715"/>
            <a:ext cx="5962650" cy="3362325"/>
          </a:xfrm>
          <a:prstGeom prst="rect">
            <a:avLst/>
          </a:prstGeom>
          <a:solidFill>
            <a:srgbClr val="0F171B"/>
          </a:solidFill>
          <a:ln w="9525">
            <a:solidFill>
              <a:srgbClr val="21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-full-bo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20240"/>
            <a:ext cx="5943600" cy="33432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580644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92A6AD"/>
                </a:solidFill>
                <a:latin typeface="Tahoma"/>
              </a:rPr>
              <a:t>الواجهة الكاملة: النموذج في الوسط، الأجهزة يميناً، التفكيك أسفل.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291072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54666D"/>
                </a:solidFill>
                <a:latin typeface="Tahoma"/>
              </a:rPr>
              <a:t>النموذج التشريحي ثلاثي الأبعاد · جامعة العلوم والتكنولوجيا الحديثة   —   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65815" y="457200"/>
            <a:ext cx="502920" cy="28575"/>
          </a:xfrm>
          <a:prstGeom prst="rect">
            <a:avLst/>
          </a:prstGeom>
          <a:solidFill>
            <a:srgbClr val="3AD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3135" y="658368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200" b="0">
                <a:solidFill>
                  <a:srgbClr val="3AD39C"/>
                </a:solidFill>
                <a:latin typeface="Tahoma"/>
              </a:rPr>
              <a:t>بالأرقام</a:t>
            </a:r>
          </a:p>
          <a:p>
            <a:pPr algn="r" rtl="1">
              <a:lnSpc>
                <a:spcPct val="125000"/>
              </a:lnSpc>
              <a:spcBef>
                <a:spcPts val="600"/>
              </a:spcBef>
            </a:pPr>
            <a:r>
              <a:rPr sz="3000" b="1">
                <a:solidFill>
                  <a:srgbClr val="E9F0F2"/>
                </a:solidFill>
                <a:latin typeface="Tahoma"/>
              </a:rPr>
              <a:t>ما الذي يحتويه النموذج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965960"/>
            <a:ext cx="2651760" cy="1600200"/>
          </a:xfrm>
          <a:prstGeom prst="rect">
            <a:avLst/>
          </a:prstGeom>
          <a:solidFill>
            <a:srgbClr val="0F171B"/>
          </a:solidFill>
          <a:ln w="9525">
            <a:solidFill>
              <a:srgbClr val="21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3400" b="1">
                <a:solidFill>
                  <a:srgbClr val="3AD39C"/>
                </a:solidFill>
                <a:latin typeface="Tahoma"/>
              </a:rPr>
              <a:t>2,219</a:t>
            </a:r>
          </a:p>
          <a:p>
            <a:pPr algn="r" rtl="1">
              <a:lnSpc>
                <a:spcPct val="125000"/>
              </a:lnSpc>
              <a:spcBef>
                <a:spcPts val="400"/>
              </a:spcBef>
            </a:pPr>
            <a:r>
              <a:rPr sz="1200" b="0">
                <a:solidFill>
                  <a:srgbClr val="92A6AD"/>
                </a:solidFill>
                <a:latin typeface="Tahoma"/>
              </a:rPr>
              <a:t>قطعة تشريحية مجسّمة</a:t>
            </a:r>
          </a:p>
        </p:txBody>
      </p:sp>
      <p:sp>
        <p:nvSpPr>
          <p:cNvPr id="5" name="Rectangle 4"/>
          <p:cNvSpPr/>
          <p:nvPr/>
        </p:nvSpPr>
        <p:spPr>
          <a:xfrm>
            <a:off x="3355848" y="1965960"/>
            <a:ext cx="2651760" cy="1600200"/>
          </a:xfrm>
          <a:prstGeom prst="rect">
            <a:avLst/>
          </a:prstGeom>
          <a:solidFill>
            <a:srgbClr val="0F171B"/>
          </a:solidFill>
          <a:ln w="9525">
            <a:solidFill>
              <a:srgbClr val="21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3400" b="1">
                <a:solidFill>
                  <a:srgbClr val="CF3A2C"/>
                </a:solidFill>
                <a:latin typeface="Tahoma"/>
              </a:rPr>
              <a:t>15</a:t>
            </a:r>
          </a:p>
          <a:p>
            <a:pPr algn="r" rtl="1">
              <a:lnSpc>
                <a:spcPct val="125000"/>
              </a:lnSpc>
              <a:spcBef>
                <a:spcPts val="400"/>
              </a:spcBef>
            </a:pPr>
            <a:r>
              <a:rPr sz="1200" b="0">
                <a:solidFill>
                  <a:srgbClr val="92A6AD"/>
                </a:solidFill>
                <a:latin typeface="Tahoma"/>
              </a:rPr>
              <a:t>جهازاً يُظهر ويُخفى</a:t>
            </a:r>
          </a:p>
        </p:txBody>
      </p:sp>
      <p:sp>
        <p:nvSpPr>
          <p:cNvPr id="6" name="Rectangle 5"/>
          <p:cNvSpPr/>
          <p:nvPr/>
        </p:nvSpPr>
        <p:spPr>
          <a:xfrm>
            <a:off x="6144768" y="1965960"/>
            <a:ext cx="2651760" cy="1600200"/>
          </a:xfrm>
          <a:prstGeom prst="rect">
            <a:avLst/>
          </a:prstGeom>
          <a:solidFill>
            <a:srgbClr val="0F171B"/>
          </a:solidFill>
          <a:ln w="9525">
            <a:solidFill>
              <a:srgbClr val="21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3400" b="1">
                <a:solidFill>
                  <a:srgbClr val="5081A6"/>
                </a:solidFill>
                <a:latin typeface="Tahoma"/>
              </a:rPr>
              <a:t>3,432</a:t>
            </a:r>
          </a:p>
          <a:p>
            <a:pPr algn="r" rtl="1">
              <a:lnSpc>
                <a:spcPct val="125000"/>
              </a:lnSpc>
              <a:spcBef>
                <a:spcPts val="400"/>
              </a:spcBef>
            </a:pPr>
            <a:r>
              <a:rPr sz="1200" b="0">
                <a:solidFill>
                  <a:srgbClr val="92A6AD"/>
                </a:solidFill>
                <a:latin typeface="Tahoma"/>
              </a:rPr>
              <a:t>بنية باسمها الكامل</a:t>
            </a:r>
          </a:p>
        </p:txBody>
      </p:sp>
      <p:sp>
        <p:nvSpPr>
          <p:cNvPr id="7" name="Rectangle 6"/>
          <p:cNvSpPr/>
          <p:nvPr/>
        </p:nvSpPr>
        <p:spPr>
          <a:xfrm>
            <a:off x="8933688" y="1965960"/>
            <a:ext cx="2651760" cy="1600200"/>
          </a:xfrm>
          <a:prstGeom prst="rect">
            <a:avLst/>
          </a:prstGeom>
          <a:solidFill>
            <a:srgbClr val="0F171B"/>
          </a:solidFill>
          <a:ln w="9525">
            <a:solidFill>
              <a:srgbClr val="21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3400" b="1">
                <a:solidFill>
                  <a:srgbClr val="DDD1AF"/>
                </a:solidFill>
                <a:latin typeface="Tahoma"/>
              </a:rPr>
              <a:t>2.3M</a:t>
            </a:r>
          </a:p>
          <a:p>
            <a:pPr algn="r" rtl="1">
              <a:lnSpc>
                <a:spcPct val="125000"/>
              </a:lnSpc>
              <a:spcBef>
                <a:spcPts val="400"/>
              </a:spcBef>
            </a:pPr>
            <a:r>
              <a:rPr sz="1200" b="0">
                <a:solidFill>
                  <a:srgbClr val="92A6AD"/>
                </a:solidFill>
                <a:latin typeface="Tahoma"/>
              </a:rPr>
              <a:t>مثلث في المشهد</a:t>
            </a:r>
          </a:p>
        </p:txBody>
      </p:sp>
      <p:sp>
        <p:nvSpPr>
          <p:cNvPr id="8" name="Rectangle 7"/>
          <p:cNvSpPr/>
          <p:nvPr/>
        </p:nvSpPr>
        <p:spPr>
          <a:xfrm>
            <a:off x="3693795" y="3830955"/>
            <a:ext cx="4773930" cy="2693670"/>
          </a:xfrm>
          <a:prstGeom prst="rect">
            <a:avLst/>
          </a:prstGeom>
          <a:solidFill>
            <a:srgbClr val="0F171B"/>
          </a:solidFill>
          <a:ln w="9525">
            <a:solidFill>
              <a:srgbClr val="21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4-skelet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3840480"/>
            <a:ext cx="4754880" cy="26746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703320" y="649224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92A6AD"/>
                </a:solidFill>
                <a:latin typeface="Tahoma"/>
              </a:rPr>
              <a:t>الهيكل العظمي وحده: كل جهاز مفتاح مستقل يُظهر ويُخفى.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291072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54666D"/>
                </a:solidFill>
                <a:latin typeface="Tahoma"/>
              </a:rPr>
              <a:t>النموذج التشريحي ثلاثي الأبعاد · جامعة العلوم والتكنولوجيا الحديثة   —   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65815" y="457200"/>
            <a:ext cx="502920" cy="28575"/>
          </a:xfrm>
          <a:prstGeom prst="rect">
            <a:avLst/>
          </a:prstGeom>
          <a:solidFill>
            <a:srgbClr val="3AD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3135" y="658368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200" b="0">
                <a:solidFill>
                  <a:srgbClr val="3AD39C"/>
                </a:solidFill>
                <a:latin typeface="Tahoma"/>
              </a:rPr>
              <a:t>الطبقات</a:t>
            </a:r>
          </a:p>
          <a:p>
            <a:pPr algn="r" rtl="1">
              <a:lnSpc>
                <a:spcPct val="125000"/>
              </a:lnSpc>
              <a:spcBef>
                <a:spcPts val="600"/>
              </a:spcBef>
            </a:pPr>
            <a:r>
              <a:rPr sz="3000" b="1">
                <a:solidFill>
                  <a:srgbClr val="E9F0F2"/>
                </a:solidFill>
                <a:latin typeface="Tahoma"/>
              </a:rPr>
              <a:t>خمسة عشر جهازاً تُظهر وتُخفى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2057400"/>
            <a:ext cx="47548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500" b="0">
                <a:solidFill>
                  <a:srgbClr val="E9F0F2"/>
                </a:solidFill>
                <a:latin typeface="Tahoma"/>
              </a:rPr>
              <a:t>• الهيكل العظمي ٢٩٦ · العضلات ٤٠٢ · الشرايين ٦٣٥ · الأوردة ٤٠٠.</a:t>
            </a:r>
          </a:p>
          <a:p>
            <a:pPr algn="r" rtl="1">
              <a:lnSpc>
                <a:spcPct val="125000"/>
              </a:lnSpc>
              <a:spcBef>
                <a:spcPts val="12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• الجهاز العصبي ١٣٩ · التنفسي ١١٩ · الهضمي ٩٧ · أعضاء الحس ٤٥.</a:t>
            </a:r>
          </a:p>
          <a:p>
            <a:pPr algn="r" rtl="1">
              <a:lnSpc>
                <a:spcPct val="125000"/>
              </a:lnSpc>
              <a:spcBef>
                <a:spcPts val="12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• القلب ٢٣ · النسيج الضام ٤٠ · البولي ٦ · الغدد الصماء ٤ · اللمفي ٣.</a:t>
            </a:r>
          </a:p>
          <a:p>
            <a:pPr algn="r" rtl="1">
              <a:lnSpc>
                <a:spcPct val="125000"/>
              </a:lnSpc>
              <a:spcBef>
                <a:spcPts val="12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• أزرار جاهزة: الكل، الهيكل وحده، الأعضاء وحدها.</a:t>
            </a:r>
          </a:p>
          <a:p>
            <a:pPr algn="r" rtl="1">
              <a:lnSpc>
                <a:spcPct val="125000"/>
              </a:lnSpc>
              <a:spcBef>
                <a:spcPts val="12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• إظهار جهاز واحد فقط بنقرة على اسمه.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403" y="1910715"/>
            <a:ext cx="5962650" cy="3362325"/>
          </a:xfrm>
          <a:prstGeom prst="rect">
            <a:avLst/>
          </a:prstGeom>
          <a:solidFill>
            <a:srgbClr val="0F171B"/>
          </a:solidFill>
          <a:ln w="9525">
            <a:solidFill>
              <a:srgbClr val="21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3-org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20240"/>
            <a:ext cx="5943600" cy="33432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580644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92A6AD"/>
                </a:solidFill>
                <a:latin typeface="Tahoma"/>
              </a:rPr>
              <a:t>وضع «الأعضاء»: الهيكل والعضلات مخفية.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291072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54666D"/>
                </a:solidFill>
                <a:latin typeface="Tahoma"/>
              </a:rPr>
              <a:t>النموذج التشريحي ثلاثي الأبعاد · جامعة العلوم والتكنولوجيا الحديثة   —   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65815" y="457200"/>
            <a:ext cx="502920" cy="28575"/>
          </a:xfrm>
          <a:prstGeom prst="rect">
            <a:avLst/>
          </a:prstGeom>
          <a:solidFill>
            <a:srgbClr val="3AD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3135" y="658368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200" b="0">
                <a:solidFill>
                  <a:srgbClr val="3AD39C"/>
                </a:solidFill>
                <a:latin typeface="Tahoma"/>
              </a:rPr>
              <a:t>التحديث الجديد</a:t>
            </a:r>
          </a:p>
          <a:p>
            <a:pPr algn="r" rtl="1">
              <a:lnSpc>
                <a:spcPct val="125000"/>
              </a:lnSpc>
              <a:spcBef>
                <a:spcPts val="600"/>
              </a:spcBef>
            </a:pPr>
            <a:r>
              <a:rPr sz="3000" b="1">
                <a:solidFill>
                  <a:srgbClr val="E9F0F2"/>
                </a:solidFill>
                <a:latin typeface="Tahoma"/>
              </a:rPr>
              <a:t>النسيج الحي مقابل الألوان التعليمية</a:t>
            </a:r>
          </a:p>
        </p:txBody>
      </p:sp>
      <p:sp>
        <p:nvSpPr>
          <p:cNvPr id="4" name="Rectangle 3"/>
          <p:cNvSpPr/>
          <p:nvPr/>
        </p:nvSpPr>
        <p:spPr>
          <a:xfrm>
            <a:off x="557403" y="2093595"/>
            <a:ext cx="5505450" cy="3105150"/>
          </a:xfrm>
          <a:prstGeom prst="rect">
            <a:avLst/>
          </a:prstGeom>
          <a:solidFill>
            <a:srgbClr val="0F171B"/>
          </a:solidFill>
          <a:ln w="9525">
            <a:solidFill>
              <a:srgbClr val="21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3-org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103120"/>
            <a:ext cx="5486400" cy="30861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254115" y="2093595"/>
            <a:ext cx="5505450" cy="3105150"/>
          </a:xfrm>
          <a:prstGeom prst="rect">
            <a:avLst/>
          </a:prstGeom>
          <a:solidFill>
            <a:srgbClr val="0F171B"/>
          </a:solidFill>
          <a:ln w="9525">
            <a:solidFill>
              <a:srgbClr val="21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-teaching-colou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103120"/>
            <a:ext cx="5486400" cy="30861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53949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200" b="0">
                <a:solidFill>
                  <a:srgbClr val="3AD39C"/>
                </a:solidFill>
                <a:latin typeface="Tahoma"/>
              </a:rPr>
              <a:t>◀ الوضع الحي: لون كل عضو كما هو في الجسد.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53949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200" b="0">
                <a:solidFill>
                  <a:srgbClr val="92A6AD"/>
                </a:solidFill>
                <a:latin typeface="Tahoma"/>
              </a:rPr>
              <a:t>◀ الوضع التعليمي: لون واحد لكل جهاز (مفتاح V).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8064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400" b="0">
                <a:solidFill>
                  <a:srgbClr val="92A6AD"/>
                </a:solidFill>
                <a:latin typeface="Tahoma"/>
              </a:rPr>
              <a:t>الكبد كستنائي، الأمعاء ورديّة مائلة للبنّي، الشرايين قانية، الأوردة زرقاء داكنة، الأعصاب عاجية — والتبديل بين الوضعين بضغطة مفتاح واحد أثناء الشرح.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291072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54666D"/>
                </a:solidFill>
                <a:latin typeface="Tahoma"/>
              </a:rPr>
              <a:t>النموذج التشريحي ثلاثي الأبعاد · جامعة العلوم والتكنولوجيا الحديثة   —   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65815" y="457200"/>
            <a:ext cx="502920" cy="28575"/>
          </a:xfrm>
          <a:prstGeom prst="rect">
            <a:avLst/>
          </a:prstGeom>
          <a:solidFill>
            <a:srgbClr val="3AD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3135" y="658368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200" b="0">
                <a:solidFill>
                  <a:srgbClr val="3AD39C"/>
                </a:solidFill>
                <a:latin typeface="Tahoma"/>
              </a:rPr>
              <a:t>الحركة</a:t>
            </a:r>
          </a:p>
          <a:p>
            <a:pPr algn="r" rtl="1">
              <a:lnSpc>
                <a:spcPct val="125000"/>
              </a:lnSpc>
              <a:spcBef>
                <a:spcPts val="600"/>
              </a:spcBef>
            </a:pPr>
            <a:r>
              <a:rPr sz="3000" b="1">
                <a:solidFill>
                  <a:srgbClr val="E9F0F2"/>
                </a:solidFill>
                <a:latin typeface="Tahoma"/>
              </a:rPr>
              <a:t>كل نسيج يتحرك بالإيقاع الذي يعمل به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2057400"/>
            <a:ext cx="47548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500" b="0">
                <a:solidFill>
                  <a:srgbClr val="E9F0F2"/>
                </a:solidFill>
                <a:latin typeface="Tahoma"/>
              </a:rPr>
              <a:t>• القلب: جدران الأذينين والبطينين والصمّامات تنقبض على دورة قلبية كاملة (٠٫٨٦ ثانية ≈ ٧٠ نبضة/دقيقة).</a:t>
            </a:r>
          </a:p>
          <a:p>
            <a:pPr algn="r" rtl="1">
              <a:lnSpc>
                <a:spcPct val="125000"/>
              </a:lnSpc>
              <a:spcBef>
                <a:spcPts val="12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• الشرايين: تحمل موجة الضغط الخارجة من القلب، متأخرةً بمقدار بعدها عنه.</a:t>
            </a:r>
          </a:p>
          <a:p>
            <a:pPr algn="r" rtl="1">
              <a:lnSpc>
                <a:spcPct val="125000"/>
              </a:lnSpc>
              <a:spcBef>
                <a:spcPts val="12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• التنفس: القصبات والأضلاع تتسع، والحجاب الحاجز يهبط ويتسطّح (٤٫٣ ثانية ≈ ١٤ نفساً/دقيقة).</a:t>
            </a:r>
          </a:p>
          <a:p>
            <a:pPr algn="r" rtl="1">
              <a:lnSpc>
                <a:spcPct val="125000"/>
              </a:lnSpc>
              <a:spcBef>
                <a:spcPts val="12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• الأمعاء والمريء والحالبان: حلقة تمعّج تسري على الطول.</a:t>
            </a:r>
          </a:p>
          <a:p>
            <a:pPr algn="r" rtl="1">
              <a:lnSpc>
                <a:spcPct val="125000"/>
              </a:lnSpc>
              <a:spcBef>
                <a:spcPts val="12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• الدماغ: نبض خفيف مع السائل الدماغي الشوكي.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403" y="1910715"/>
            <a:ext cx="5962650" cy="3362325"/>
          </a:xfrm>
          <a:prstGeom prst="rect">
            <a:avLst/>
          </a:prstGeom>
          <a:solidFill>
            <a:srgbClr val="0F171B"/>
          </a:solidFill>
          <a:ln w="9525">
            <a:solidFill>
              <a:srgbClr val="21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5-he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20240"/>
            <a:ext cx="5943600" cy="33432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580644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92A6AD"/>
                </a:solidFill>
                <a:latin typeface="Tahoma"/>
              </a:rPr>
              <a:t>القلب معزولاً: عضل داكن، شرايين تاجية قانية، صمّامات شاحبة، أعصاب عاجية.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291072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54666D"/>
                </a:solidFill>
                <a:latin typeface="Tahoma"/>
              </a:rPr>
              <a:t>النموذج التشريحي ثلاثي الأبعاد · جامعة العلوم والتكنولوجيا الحديثة   —   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65815" y="457200"/>
            <a:ext cx="502920" cy="28575"/>
          </a:xfrm>
          <a:prstGeom prst="rect">
            <a:avLst/>
          </a:prstGeom>
          <a:solidFill>
            <a:srgbClr val="3AD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3135" y="658368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200" b="0">
                <a:solidFill>
                  <a:srgbClr val="3AD39C"/>
                </a:solidFill>
                <a:latin typeface="Tahoma"/>
              </a:rPr>
              <a:t>العزل</a:t>
            </a:r>
          </a:p>
          <a:p>
            <a:pPr algn="r" rtl="1">
              <a:lnSpc>
                <a:spcPct val="125000"/>
              </a:lnSpc>
              <a:spcBef>
                <a:spcPts val="600"/>
              </a:spcBef>
            </a:pPr>
            <a:r>
              <a:rPr sz="3000" b="1">
                <a:solidFill>
                  <a:srgbClr val="E9F0F2"/>
                </a:solidFill>
                <a:latin typeface="Tahoma"/>
              </a:rPr>
              <a:t>عزل البنية = رؤيتها حيّة وهي تؤدي وظيفتها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2057400"/>
            <a:ext cx="47548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500" b="0">
                <a:solidFill>
                  <a:srgbClr val="E9F0F2"/>
                </a:solidFill>
                <a:latin typeface="Tahoma"/>
              </a:rPr>
              <a:t>• عند العزل يشتغل الوضع الحي تلقائياً حتى لو كانت الألوان التعليمية مختارة.</a:t>
            </a:r>
          </a:p>
          <a:p>
            <a:pPr algn="r" rtl="1">
              <a:lnSpc>
                <a:spcPct val="125000"/>
              </a:lnSpc>
              <a:spcBef>
                <a:spcPts val="12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• تُرفع سعة الحركة لتُقرأ بوضوح عن قرب.</a:t>
            </a:r>
          </a:p>
          <a:p>
            <a:pPr algn="r" rtl="1">
              <a:lnSpc>
                <a:spcPct val="125000"/>
              </a:lnSpc>
              <a:spcBef>
                <a:spcPts val="12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• تُرفع صبغة التحديد الخضراء لأن البنية وحدها على الشاشة — فيظهر لونها الحقيقي.</a:t>
            </a:r>
          </a:p>
          <a:p>
            <a:pPr algn="r" rtl="1">
              <a:lnSpc>
                <a:spcPct val="125000"/>
              </a:lnSpc>
              <a:spcBef>
                <a:spcPts val="12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• تظهر لوحة «تؤدي وظيفتها الآن» بوصف الحركة ومعدّلها.</a:t>
            </a:r>
          </a:p>
          <a:p>
            <a:pPr algn="r" rtl="1">
              <a:lnSpc>
                <a:spcPct val="125000"/>
              </a:lnSpc>
              <a:spcBef>
                <a:spcPts val="12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• الكاميرا تؤطّر البنية تلقائياً، والتدوير حولها من كل الجهات.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403" y="1910715"/>
            <a:ext cx="5962650" cy="3362325"/>
          </a:xfrm>
          <a:prstGeom prst="rect">
            <a:avLst/>
          </a:prstGeom>
          <a:solidFill>
            <a:srgbClr val="0F171B"/>
          </a:solidFill>
          <a:ln w="9525">
            <a:solidFill>
              <a:srgbClr val="21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7-intest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20240"/>
            <a:ext cx="5943600" cy="33432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580644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92A6AD"/>
                </a:solidFill>
                <a:latin typeface="Tahoma"/>
              </a:rPr>
              <a:t>الأمعاء الدقيقة معزولة: موجة تمعّج تسري على طولها.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291072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54666D"/>
                </a:solidFill>
                <a:latin typeface="Tahoma"/>
              </a:rPr>
              <a:t>النموذج التشريحي ثلاثي الأبعاد · جامعة العلوم والتكنولوجيا الحديثة   —   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65815" y="457200"/>
            <a:ext cx="502920" cy="28575"/>
          </a:xfrm>
          <a:prstGeom prst="rect">
            <a:avLst/>
          </a:prstGeom>
          <a:solidFill>
            <a:srgbClr val="3AD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3135" y="658368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200" b="0">
                <a:solidFill>
                  <a:srgbClr val="3AD39C"/>
                </a:solidFill>
                <a:latin typeface="Tahoma"/>
              </a:rPr>
              <a:t>أمثلة</a:t>
            </a:r>
          </a:p>
          <a:p>
            <a:pPr algn="r" rtl="1">
              <a:lnSpc>
                <a:spcPct val="125000"/>
              </a:lnSpc>
              <a:spcBef>
                <a:spcPts val="600"/>
              </a:spcBef>
            </a:pPr>
            <a:r>
              <a:rPr sz="3000" b="1">
                <a:solidFill>
                  <a:srgbClr val="E9F0F2"/>
                </a:solidFill>
                <a:latin typeface="Tahoma"/>
              </a:rPr>
              <a:t>أعضاء معزولة بألوان أنسجتها</a:t>
            </a:r>
          </a:p>
        </p:txBody>
      </p:sp>
      <p:sp>
        <p:nvSpPr>
          <p:cNvPr id="4" name="Rectangle 3"/>
          <p:cNvSpPr/>
          <p:nvPr/>
        </p:nvSpPr>
        <p:spPr>
          <a:xfrm>
            <a:off x="557403" y="2047875"/>
            <a:ext cx="3630930" cy="2050732"/>
          </a:xfrm>
          <a:prstGeom prst="rect">
            <a:avLst/>
          </a:prstGeom>
          <a:solidFill>
            <a:srgbClr val="0F171B"/>
          </a:solidFill>
          <a:ln w="9525">
            <a:solidFill>
              <a:srgbClr val="21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6-li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057400"/>
            <a:ext cx="3611880" cy="203168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306443" y="2047875"/>
            <a:ext cx="3630930" cy="2050732"/>
          </a:xfrm>
          <a:prstGeom prst="rect">
            <a:avLst/>
          </a:prstGeom>
          <a:solidFill>
            <a:srgbClr val="0F171B"/>
          </a:solidFill>
          <a:ln w="9525">
            <a:solidFill>
              <a:srgbClr val="21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8-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968" y="2057400"/>
            <a:ext cx="3611880" cy="203168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055483" y="2047875"/>
            <a:ext cx="3630930" cy="2050732"/>
          </a:xfrm>
          <a:prstGeom prst="rect">
            <a:avLst/>
          </a:prstGeom>
          <a:solidFill>
            <a:srgbClr val="0F171B"/>
          </a:solidFill>
          <a:ln w="9525">
            <a:solidFill>
              <a:srgbClr val="21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9-kidn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008" y="2057400"/>
            <a:ext cx="3611880" cy="203168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4251960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92A6AD"/>
                </a:solidFill>
                <a:latin typeface="Tahoma"/>
              </a:rPr>
              <a:t>الكبد — كستنائي داكن لامع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4251960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92A6AD"/>
                </a:solidFill>
                <a:latin typeface="Tahoma"/>
              </a:rPr>
              <a:t>الدماغ — رمادي وردي مع نبض السائل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5008" y="4251960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92A6AD"/>
                </a:solidFill>
                <a:latin typeface="Tahoma"/>
              </a:rPr>
              <a:t>الكلية — بنّي محمر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846320"/>
            <a:ext cx="11155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500" b="0">
                <a:solidFill>
                  <a:srgbClr val="E9F0F2"/>
                </a:solidFill>
                <a:latin typeface="Tahoma"/>
              </a:rPr>
              <a:t>لون كل بنية مشتق من نسيجها هي، لا من جهازها: العظم عاجي، العضل أحمر داكن، الغضروف أبيض مزرقّ، الصمّامات شاحبة، المرارة خضراء، البنكرياس فصيصي باهت، الطحال أرجواني داكن.</a:t>
            </a:r>
          </a:p>
          <a:p>
            <a:pPr algn="r" rtl="1">
              <a:lnSpc>
                <a:spcPct val="125000"/>
              </a:lnSpc>
              <a:spcBef>
                <a:spcPts val="1000"/>
              </a:spcBef>
            </a:pPr>
            <a:r>
              <a:rPr sz="1300" b="0">
                <a:solidFill>
                  <a:srgbClr val="92A6AD"/>
                </a:solidFill>
                <a:latin typeface="Tahoma"/>
              </a:rPr>
              <a:t>تفاصيل السطح تُولَّد رياضياً داخل بطاقة الرسوم، فلا صور تُحمَّل ولا يكبر حجم النموذج.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291072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54666D"/>
                </a:solidFill>
                <a:latin typeface="Tahoma"/>
              </a:rPr>
              <a:t>النموذج التشريحي ثلاثي الأبعاد · جامعة العلوم والتكنولوجيا الحديثة   —   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65815" y="457200"/>
            <a:ext cx="502920" cy="28575"/>
          </a:xfrm>
          <a:prstGeom prst="rect">
            <a:avLst/>
          </a:prstGeom>
          <a:solidFill>
            <a:srgbClr val="3AD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3135" y="658368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200" b="0">
                <a:solidFill>
                  <a:srgbClr val="3AD39C"/>
                </a:solidFill>
                <a:latin typeface="Tahoma"/>
              </a:rPr>
              <a:t>التسميات</a:t>
            </a:r>
          </a:p>
          <a:p>
            <a:pPr algn="r" rtl="1">
              <a:lnSpc>
                <a:spcPct val="125000"/>
              </a:lnSpc>
              <a:spcBef>
                <a:spcPts val="600"/>
              </a:spcBef>
            </a:pPr>
            <a:r>
              <a:rPr sz="3000" b="1">
                <a:solidFill>
                  <a:srgbClr val="E9F0F2"/>
                </a:solidFill>
                <a:latin typeface="Tahoma"/>
              </a:rPr>
              <a:t>العلامات على الشاشة أثناء الشرح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2057400"/>
            <a:ext cx="47548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500" b="0">
                <a:solidFill>
                  <a:srgbClr val="E9F0F2"/>
                </a:solidFill>
                <a:latin typeface="Tahoma"/>
              </a:rPr>
              <a:t>• مفتاح N يُظهر أسماء أكبر البنى الظاهرة.</a:t>
            </a:r>
          </a:p>
          <a:p>
            <a:pPr algn="r" rtl="1">
              <a:lnSpc>
                <a:spcPct val="125000"/>
              </a:lnSpc>
              <a:spcBef>
                <a:spcPts val="12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• الأسماء عربية، ويظهر المقابل اللاتيني في لوحة التفاصيل.</a:t>
            </a:r>
          </a:p>
          <a:p>
            <a:pPr algn="r" rtl="1">
              <a:lnSpc>
                <a:spcPct val="125000"/>
              </a:lnSpc>
              <a:spcBef>
                <a:spcPts val="12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• تمرير المؤشر يُظهر اسم أي قطعة فوراً.</a:t>
            </a:r>
          </a:p>
          <a:p>
            <a:pPr algn="r" rtl="1">
              <a:lnSpc>
                <a:spcPct val="125000"/>
              </a:lnSpc>
              <a:spcBef>
                <a:spcPts val="12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• مناسب للعرض على شاشة القاعة أثناء المحاضرة.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403" y="1910715"/>
            <a:ext cx="5962650" cy="3362325"/>
          </a:xfrm>
          <a:prstGeom prst="rect">
            <a:avLst/>
          </a:prstGeom>
          <a:solidFill>
            <a:srgbClr val="0F171B"/>
          </a:solidFill>
          <a:ln w="9525">
            <a:solidFill>
              <a:srgbClr val="21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0-lab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20240"/>
            <a:ext cx="5943600" cy="33432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580644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92A6AD"/>
                </a:solidFill>
                <a:latin typeface="Tahoma"/>
              </a:rPr>
              <a:t>العلامات مفعّلة على الأعضاء.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291072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54666D"/>
                </a:solidFill>
                <a:latin typeface="Tahoma"/>
              </a:rPr>
              <a:t>النموذج التشريحي ثلاثي الأبعاد · جامعة العلوم والتكنولوجيا الحديثة   —   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65815" y="457200"/>
            <a:ext cx="502920" cy="28575"/>
          </a:xfrm>
          <a:prstGeom prst="rect">
            <a:avLst/>
          </a:prstGeom>
          <a:solidFill>
            <a:srgbClr val="3AD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3135" y="658368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200" b="0">
                <a:solidFill>
                  <a:srgbClr val="3AD39C"/>
                </a:solidFill>
                <a:latin typeface="Tahoma"/>
              </a:rPr>
              <a:t>التفكيك</a:t>
            </a:r>
          </a:p>
          <a:p>
            <a:pPr algn="r" rtl="1">
              <a:lnSpc>
                <a:spcPct val="125000"/>
              </a:lnSpc>
              <a:spcBef>
                <a:spcPts val="600"/>
              </a:spcBef>
            </a:pPr>
            <a:r>
              <a:rPr sz="3000" b="1">
                <a:solidFill>
                  <a:srgbClr val="E9F0F2"/>
                </a:solidFill>
                <a:latin typeface="Tahoma"/>
              </a:rPr>
              <a:t>تفكيك الجسد كله إلى لوحة مرتّبة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2057400"/>
            <a:ext cx="47548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500" b="0">
                <a:solidFill>
                  <a:srgbClr val="E9F0F2"/>
                </a:solidFill>
                <a:latin typeface="Tahoma"/>
              </a:rPr>
              <a:t>• مزلاج واحد ينقل النموذج من مجمّع إلى مفكّك بالكامل.</a:t>
            </a:r>
          </a:p>
          <a:p>
            <a:pPr algn="r" rtl="1">
              <a:lnSpc>
                <a:spcPct val="125000"/>
              </a:lnSpc>
              <a:spcBef>
                <a:spcPts val="12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• القطع تتوزّع في شبكة مرتّبة، كل قطعة قابلة للنقر والتسمية.</a:t>
            </a:r>
          </a:p>
          <a:p>
            <a:pPr algn="r" rtl="1">
              <a:lnSpc>
                <a:spcPct val="125000"/>
              </a:lnSpc>
              <a:spcBef>
                <a:spcPts val="12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• مفيد لمراجعة عدد القطع وأشكالها قبل الامتحان العملي.</a:t>
            </a:r>
          </a:p>
          <a:p>
            <a:pPr algn="r" rtl="1">
              <a:lnSpc>
                <a:spcPct val="125000"/>
              </a:lnSpc>
              <a:spcBef>
                <a:spcPts val="12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• العودة بضغطة واحدة على «إعادة».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403" y="1910715"/>
            <a:ext cx="5962650" cy="3362325"/>
          </a:xfrm>
          <a:prstGeom prst="rect">
            <a:avLst/>
          </a:prstGeom>
          <a:solidFill>
            <a:srgbClr val="0F171B"/>
          </a:solidFill>
          <a:ln w="9525">
            <a:solidFill>
              <a:srgbClr val="21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1-expl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20240"/>
            <a:ext cx="5943600" cy="33432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580644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92A6AD"/>
                </a:solidFill>
                <a:latin typeface="Tahoma"/>
              </a:rPr>
              <a:t>التفكيك عند ١٠٠٪.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291072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54666D"/>
                </a:solidFill>
                <a:latin typeface="Tahoma"/>
              </a:rPr>
              <a:t>النموذج التشريحي ثلاثي الأبعاد · جامعة العلوم والتكنولوجيا الحديثة   —   ١٠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65815" y="457200"/>
            <a:ext cx="502920" cy="28575"/>
          </a:xfrm>
          <a:prstGeom prst="rect">
            <a:avLst/>
          </a:prstGeom>
          <a:solidFill>
            <a:srgbClr val="3AD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3135" y="658368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200" b="0">
                <a:solidFill>
                  <a:srgbClr val="3AD39C"/>
                </a:solidFill>
                <a:latin typeface="Tahoma"/>
              </a:rPr>
              <a:t>البحث</a:t>
            </a:r>
          </a:p>
          <a:p>
            <a:pPr algn="r" rtl="1">
              <a:lnSpc>
                <a:spcPct val="125000"/>
              </a:lnSpc>
              <a:spcBef>
                <a:spcPts val="600"/>
              </a:spcBef>
            </a:pPr>
            <a:r>
              <a:rPr sz="3000" b="1">
                <a:solidFill>
                  <a:srgbClr val="E9F0F2"/>
                </a:solidFill>
                <a:latin typeface="Tahoma"/>
              </a:rPr>
              <a:t>الوصول إلى أي بنية في ثانية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2057400"/>
            <a:ext cx="47548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500" b="0">
                <a:solidFill>
                  <a:srgbClr val="E9F0F2"/>
                </a:solidFill>
                <a:latin typeface="Tahoma"/>
              </a:rPr>
              <a:t>• مفتاح / يفتح البحث.</a:t>
            </a:r>
          </a:p>
          <a:p>
            <a:pPr algn="r" rtl="1">
              <a:lnSpc>
                <a:spcPct val="125000"/>
              </a:lnSpc>
              <a:spcBef>
                <a:spcPts val="12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• البحث يقبل العربية والإنجليزية واللاتينية.</a:t>
            </a:r>
          </a:p>
          <a:p>
            <a:pPr algn="r" rtl="1">
              <a:lnSpc>
                <a:spcPct val="125000"/>
              </a:lnSpc>
              <a:spcBef>
                <a:spcPts val="12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• اختيار النتيجة ينقل الكاميرا إلى البنية ويحدّدها.</a:t>
            </a:r>
          </a:p>
          <a:p>
            <a:pPr algn="r" rtl="1">
              <a:lnSpc>
                <a:spcPct val="125000"/>
              </a:lnSpc>
              <a:spcBef>
                <a:spcPts val="12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• ٣٬٤٣٢ بنية مفهرسة بأسمائها.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403" y="1910715"/>
            <a:ext cx="5962650" cy="3362325"/>
          </a:xfrm>
          <a:prstGeom prst="rect">
            <a:avLst/>
          </a:prstGeom>
          <a:solidFill>
            <a:srgbClr val="0F171B"/>
          </a:solidFill>
          <a:ln w="9525">
            <a:solidFill>
              <a:srgbClr val="21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2-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20240"/>
            <a:ext cx="5943600" cy="33432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580644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92A6AD"/>
                </a:solidFill>
                <a:latin typeface="Tahoma"/>
              </a:rPr>
              <a:t>لوحة البحث مفتوحة.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291072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54666D"/>
                </a:solidFill>
                <a:latin typeface="Tahoma"/>
              </a:rPr>
              <a:t>النموذج التشريحي ثلاثي الأبعاد · جامعة العلوم والتكنولوجيا الحديثة   —   ١١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65815" y="457200"/>
            <a:ext cx="502920" cy="28575"/>
          </a:xfrm>
          <a:prstGeom prst="rect">
            <a:avLst/>
          </a:prstGeom>
          <a:solidFill>
            <a:srgbClr val="3AD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3135" y="658368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200" b="0">
                <a:solidFill>
                  <a:srgbClr val="3AD39C"/>
                </a:solidFill>
                <a:latin typeface="Tahoma"/>
              </a:rPr>
              <a:t>المذاكرة</a:t>
            </a:r>
          </a:p>
          <a:p>
            <a:pPr algn="r" rtl="1">
              <a:lnSpc>
                <a:spcPct val="125000"/>
              </a:lnSpc>
              <a:spcBef>
                <a:spcPts val="600"/>
              </a:spcBef>
            </a:pPr>
            <a:r>
              <a:rPr sz="3000" b="1">
                <a:solidFill>
                  <a:srgbClr val="E9F0F2"/>
                </a:solidFill>
                <a:latin typeface="Tahoma"/>
              </a:rPr>
              <a:t>أدوات الطالب داخل النظام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2057400"/>
            <a:ext cx="475488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500" b="0">
                <a:solidFill>
                  <a:srgbClr val="E9F0F2"/>
                </a:solidFill>
                <a:latin typeface="Tahoma"/>
              </a:rPr>
              <a:t>• وضع الاختبار: يخفي الأسماء ويسأل عن البنى.</a:t>
            </a:r>
          </a:p>
          <a:p>
            <a:pPr algn="r" rtl="1">
              <a:lnSpc>
                <a:spcPct val="125000"/>
              </a:lnSpc>
              <a:spcBef>
                <a:spcPts val="12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• البطاقات: مراجعة سريعة لما تم اختياره.</a:t>
            </a:r>
          </a:p>
          <a:p>
            <a:pPr algn="r" rtl="1">
              <a:lnSpc>
                <a:spcPct val="125000"/>
              </a:lnSpc>
              <a:spcBef>
                <a:spcPts val="12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• المفضلة والقوائم: حفظ بنى محددة لمراجعتها لاحقاً.</a:t>
            </a:r>
          </a:p>
          <a:p>
            <a:pPr algn="r" rtl="1">
              <a:lnSpc>
                <a:spcPct val="125000"/>
              </a:lnSpc>
              <a:spcBef>
                <a:spcPts val="12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• «اشرح لي هذه البنية»: شرح مبسّط عند الطلب.</a:t>
            </a:r>
          </a:p>
          <a:p>
            <a:pPr algn="r" rtl="1">
              <a:lnSpc>
                <a:spcPct val="125000"/>
              </a:lnSpc>
              <a:spcBef>
                <a:spcPts val="12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• رابط المشاركة يحفظ الحالة كاملة للطالب.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403" y="1910715"/>
            <a:ext cx="5962650" cy="3362325"/>
          </a:xfrm>
          <a:prstGeom prst="rect">
            <a:avLst/>
          </a:prstGeom>
          <a:solidFill>
            <a:srgbClr val="0F171B"/>
          </a:solidFill>
          <a:ln w="9525">
            <a:solidFill>
              <a:srgbClr val="21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3-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20240"/>
            <a:ext cx="5943600" cy="33432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580644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100" b="0">
                <a:solidFill>
                  <a:srgbClr val="92A6AD"/>
                </a:solidFill>
                <a:latin typeface="Tahoma"/>
              </a:rPr>
              <a:t>وضع الاختبار.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291072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54666D"/>
                </a:solidFill>
                <a:latin typeface="Tahoma"/>
              </a:rPr>
              <a:t>النموذج التشريحي ثلاثي الأبعاد · جامعة العلوم والتكنولوجيا الحديثة   —   ١٢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65815" y="457200"/>
            <a:ext cx="502920" cy="28575"/>
          </a:xfrm>
          <a:prstGeom prst="rect">
            <a:avLst/>
          </a:prstGeom>
          <a:solidFill>
            <a:srgbClr val="3AD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3135" y="658368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200" b="0">
                <a:solidFill>
                  <a:srgbClr val="3AD39C"/>
                </a:solidFill>
                <a:latin typeface="Tahoma"/>
              </a:rPr>
              <a:t>تحت الغطاء</a:t>
            </a:r>
          </a:p>
          <a:p>
            <a:pPr algn="r" rtl="1">
              <a:lnSpc>
                <a:spcPct val="125000"/>
              </a:lnSpc>
              <a:spcBef>
                <a:spcPts val="600"/>
              </a:spcBef>
            </a:pPr>
            <a:r>
              <a:rPr sz="3000" b="1">
                <a:solidFill>
                  <a:srgbClr val="E9F0F2"/>
                </a:solidFill>
                <a:latin typeface="Tahoma"/>
              </a:rPr>
              <a:t>لماذا يعمل بسلاسة على حاسوب الطالب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2011680"/>
            <a:ext cx="11064240" cy="960120"/>
          </a:xfrm>
          <a:prstGeom prst="rect">
            <a:avLst/>
          </a:prstGeom>
          <a:solidFill>
            <a:srgbClr val="0F171B"/>
          </a:solidFill>
          <a:ln w="9525">
            <a:solidFill>
              <a:srgbClr val="21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500" b="1">
                <a:solidFill>
                  <a:srgbClr val="3AD39C"/>
                </a:solidFill>
                <a:latin typeface="Tahoma"/>
              </a:rPr>
              <a:t>رسمة واحدة لكل جهاز</a:t>
            </a:r>
          </a:p>
          <a:p>
            <a:pPr algn="r" rtl="1">
              <a:lnSpc>
                <a:spcPct val="125000"/>
              </a:lnSpc>
              <a:spcBef>
                <a:spcPts val="300"/>
              </a:spcBef>
            </a:pPr>
            <a:r>
              <a:rPr sz="1300" b="0">
                <a:solidFill>
                  <a:srgbClr val="92A6AD"/>
                </a:solidFill>
                <a:latin typeface="Tahoma"/>
              </a:rPr>
              <a:t>كل قطع الجهاز تُدمج في شبكة واحدة؛ الإظهار والإخفاء والتفكيك والحركة كلها داخل مظلّل الرأس، بلا إعادة بناء للمشهد.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127248"/>
            <a:ext cx="11064240" cy="960120"/>
          </a:xfrm>
          <a:prstGeom prst="rect">
            <a:avLst/>
          </a:prstGeom>
          <a:solidFill>
            <a:srgbClr val="0F171B"/>
          </a:solidFill>
          <a:ln w="9525">
            <a:solidFill>
              <a:srgbClr val="21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500" b="1">
                <a:solidFill>
                  <a:srgbClr val="3AD39C"/>
                </a:solidFill>
                <a:latin typeface="Tahoma"/>
              </a:rPr>
              <a:t>بكسل لكل قطعة</a:t>
            </a:r>
          </a:p>
          <a:p>
            <a:pPr algn="r" rtl="1">
              <a:lnSpc>
                <a:spcPct val="125000"/>
              </a:lnSpc>
              <a:spcBef>
                <a:spcPts val="300"/>
              </a:spcBef>
            </a:pPr>
            <a:r>
              <a:rPr sz="1300" b="0">
                <a:solidFill>
                  <a:srgbClr val="92A6AD"/>
                </a:solidFill>
                <a:latin typeface="Tahoma"/>
              </a:rPr>
              <a:t>لكل قطعة بكسل يحمل لون نسيجها وخشونته ولمعته وشفافيته، وآخر يحمل نوع حركتها وسعتها وطورها الزمني.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4242816"/>
            <a:ext cx="11064240" cy="960120"/>
          </a:xfrm>
          <a:prstGeom prst="rect">
            <a:avLst/>
          </a:prstGeom>
          <a:solidFill>
            <a:srgbClr val="0F171B"/>
          </a:solidFill>
          <a:ln w="9525">
            <a:solidFill>
              <a:srgbClr val="21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500" b="1">
                <a:solidFill>
                  <a:srgbClr val="3AD39C"/>
                </a:solidFill>
                <a:latin typeface="Tahoma"/>
              </a:rPr>
              <a:t>تحميل تدريجي مضغوط</a:t>
            </a:r>
          </a:p>
          <a:p>
            <a:pPr algn="r" rtl="1">
              <a:lnSpc>
                <a:spcPct val="125000"/>
              </a:lnSpc>
              <a:spcBef>
                <a:spcPts val="300"/>
              </a:spcBef>
            </a:pPr>
            <a:r>
              <a:rPr sz="1300" b="0">
                <a:solidFill>
                  <a:srgbClr val="92A6AD"/>
                </a:solidFill>
                <a:latin typeface="Tahoma"/>
              </a:rPr>
              <a:t>النموذج يصل على دفعات مضغوطة مع شريط تقدّم، فيبدأ العرض قبل اكتمال التحميل.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358384"/>
            <a:ext cx="11064240" cy="960120"/>
          </a:xfrm>
          <a:prstGeom prst="rect">
            <a:avLst/>
          </a:prstGeom>
          <a:solidFill>
            <a:srgbClr val="0F171B"/>
          </a:solidFill>
          <a:ln w="9525">
            <a:solidFill>
              <a:srgbClr val="21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500" b="1">
                <a:solidFill>
                  <a:srgbClr val="3AD39C"/>
                </a:solidFill>
                <a:latin typeface="Tahoma"/>
              </a:rPr>
              <a:t>توقف عند السكون</a:t>
            </a:r>
          </a:p>
          <a:p>
            <a:pPr algn="r" rtl="1">
              <a:lnSpc>
                <a:spcPct val="125000"/>
              </a:lnSpc>
              <a:spcBef>
                <a:spcPts val="300"/>
              </a:spcBef>
            </a:pPr>
            <a:r>
              <a:rPr sz="1300" b="0">
                <a:solidFill>
                  <a:srgbClr val="92A6AD"/>
                </a:solidFill>
                <a:latin typeface="Tahoma"/>
              </a:rPr>
              <a:t>مع إطفاء الوضع الحي يعود المشهد للرسم عند التغيير فقط، فلا يستهلك بطارية الجهاز.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291072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54666D"/>
                </a:solidFill>
                <a:latin typeface="Tahoma"/>
              </a:rPr>
              <a:t>النموذج التشريحي ثلاثي الأبعاد · جامعة العلوم والتكنولوجيا الحديثة   —   ١٣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65815" y="457200"/>
            <a:ext cx="502920" cy="28575"/>
          </a:xfrm>
          <a:prstGeom prst="rect">
            <a:avLst/>
          </a:prstGeom>
          <a:solidFill>
            <a:srgbClr val="3AD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3135" y="658368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200" b="0">
                <a:solidFill>
                  <a:srgbClr val="3AD39C"/>
                </a:solidFill>
                <a:latin typeface="Tahoma"/>
              </a:rPr>
              <a:t>المصدر والحقوق</a:t>
            </a:r>
          </a:p>
          <a:p>
            <a:pPr algn="r" rtl="1">
              <a:lnSpc>
                <a:spcPct val="125000"/>
              </a:lnSpc>
              <a:spcBef>
                <a:spcPts val="600"/>
              </a:spcBef>
            </a:pPr>
            <a:r>
              <a:rPr sz="3000" b="1">
                <a:solidFill>
                  <a:srgbClr val="E9F0F2"/>
                </a:solidFill>
                <a:latin typeface="Tahoma"/>
              </a:rPr>
              <a:t>من أين تأتي المجسّمات والأسماء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103120"/>
            <a:ext cx="676656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</a:pPr>
            <a:r>
              <a:rPr sz="1500" b="0">
                <a:solidFill>
                  <a:srgbClr val="E9F0F2"/>
                </a:solidFill>
                <a:latin typeface="Tahoma"/>
              </a:rPr>
              <a:t>المجسّمات: قاعدة BodyParts3D / Anatomography — مركز معلومات الحمض النووي، اليابان، برخصة CC BY-SA 2.1 JP.</a:t>
            </a:r>
          </a:p>
          <a:p>
            <a:pPr algn="r" rtl="1">
              <a:lnSpc>
                <a:spcPct val="125000"/>
              </a:lnSpc>
              <a:spcBef>
                <a:spcPts val="14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المصطلحات: كل بنية مربوطة بمعرّفها في مصطلحات FMA، والاسم العربي موثّق مقابله؛ وحين لا يوجد مقابل عربي معتمد يظهر الاسم اللاتيني كما هو.</a:t>
            </a:r>
          </a:p>
          <a:p>
            <a:pPr algn="r" rtl="1">
              <a:lnSpc>
                <a:spcPct val="125000"/>
              </a:lnSpc>
              <a:spcBef>
                <a:spcPts val="1400"/>
              </a:spcBef>
            </a:pPr>
            <a:r>
              <a:rPr sz="1500" b="0">
                <a:solidFill>
                  <a:srgbClr val="92A6AD"/>
                </a:solidFill>
                <a:latin typeface="Tahoma"/>
              </a:rPr>
              <a:t>النموذج: ذكر بالغ، 2,219 قطعة، 2.3 مليون مثلث.</a:t>
            </a:r>
          </a:p>
          <a:p>
            <a:pPr algn="r" rtl="1">
              <a:lnSpc>
                <a:spcPct val="125000"/>
              </a:lnSpc>
              <a:spcBef>
                <a:spcPts val="2000"/>
              </a:spcBef>
            </a:pPr>
            <a:r>
              <a:rPr sz="1500" b="1">
                <a:solidFill>
                  <a:srgbClr val="E9F0F2"/>
                </a:solidFill>
                <a:latin typeface="Tahoma"/>
              </a:rPr>
              <a:t>إعداد وعرض: د. سمية عبد الله عبد — بمساعدة المهندس صلاح عبد الله عبد.</a:t>
            </a:r>
          </a:p>
          <a:p>
            <a:pPr algn="r" rtl="1">
              <a:lnSpc>
                <a:spcPct val="125000"/>
              </a:lnSpc>
              <a:spcBef>
                <a:spcPts val="400"/>
              </a:spcBef>
            </a:pPr>
            <a:r>
              <a:rPr sz="1400" b="0">
                <a:solidFill>
                  <a:srgbClr val="92A6AD"/>
                </a:solidFill>
                <a:latin typeface="Tahoma"/>
              </a:rPr>
              <a:t>كلية الطب البشري · جامعة العلوم والتكنولوجيا الحديثة.</a:t>
            </a:r>
          </a:p>
        </p:txBody>
      </p:sp>
      <p:sp>
        <p:nvSpPr>
          <p:cNvPr id="5" name="Rectangle 4"/>
          <p:cNvSpPr/>
          <p:nvPr/>
        </p:nvSpPr>
        <p:spPr>
          <a:xfrm>
            <a:off x="7579995" y="2093595"/>
            <a:ext cx="4042410" cy="2282190"/>
          </a:xfrm>
          <a:prstGeom prst="rect">
            <a:avLst/>
          </a:prstGeom>
          <a:solidFill>
            <a:srgbClr val="0F171B"/>
          </a:solidFill>
          <a:ln w="9525">
            <a:solidFill>
              <a:srgbClr val="2131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-spl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103120"/>
            <a:ext cx="4023360" cy="22631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291072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54666D"/>
                </a:solidFill>
                <a:latin typeface="Tahoma"/>
              </a:rPr>
              <a:t>النموذج التشريحي ثلاثي الأبعاد · جامعة العلوم والتكنولوجيا الحديثة   —   ١٤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